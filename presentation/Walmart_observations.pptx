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6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8" r:id="rId12"/>
    <p:sldId id="261" r:id="rId13"/>
    <p:sldId id="262" r:id="rId14"/>
    <p:sldId id="263" r:id="rId15"/>
    <p:sldId id="270" r:id="rId16"/>
    <p:sldId id="271" r:id="rId17"/>
    <p:sldId id="272" r:id="rId18"/>
    <p:sldId id="273" r:id="rId19"/>
    <p:sldId id="274" r:id="rId20"/>
    <p:sldId id="275" r:id="rId21"/>
    <p:sldId id="285" r:id="rId22"/>
    <p:sldId id="286" r:id="rId23"/>
    <p:sldId id="287" r:id="rId24"/>
    <p:sldId id="280" r:id="rId25"/>
    <p:sldId id="281" r:id="rId26"/>
    <p:sldId id="282" r:id="rId27"/>
    <p:sldId id="283" r:id="rId28"/>
    <p:sldId id="284" r:id="rId29"/>
    <p:sldId id="277" r:id="rId30"/>
    <p:sldId id="278" r:id="rId31"/>
    <p:sldId id="279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95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97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9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0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25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4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340"/>
          </a:solidFill>
          <a:ln w="12700">
            <a:solidFill>
              <a:srgbClr val="162340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3" name="Shape 1"/>
          <p:cNvSpPr/>
          <p:nvPr/>
        </p:nvSpPr>
        <p:spPr>
          <a:xfrm>
            <a:off x="8138160" y="-365760"/>
            <a:ext cx="1828800" cy="182880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IS DEPARTMENT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Walmart Sales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 Project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926080" cy="36576"/>
          </a:xfrm>
          <a:prstGeom prst="rect">
            <a:avLst/>
          </a:prstGeom>
          <a:solidFill>
            <a:srgbClr val="8A9BB5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&amp; Project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6400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2651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Columns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383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Regions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607808" y="73152"/>
            <a:ext cx="1444752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07808" y="73152"/>
            <a:ext cx="144475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 i="0">
                <a:solidFill>
                  <a:srgbClr val="1C2D4E"/>
                </a:solidFill>
                <a:latin typeface="Georgia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94944"/>
            <a:ext cx="4206240" cy="101612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" y="694944"/>
            <a:ext cx="50292" cy="101612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" y="768096"/>
            <a:ext cx="384048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768096"/>
            <a:ext cx="38404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8727" y="768096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7" y="768096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749808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6B8A"/>
                </a:solidFill>
                <a:latin typeface="Calibri"/>
              </a:rPr>
              <a:t>Data Understanding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" y="1042416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1078992"/>
            <a:ext cx="4023359" cy="568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Dataset Description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Project Objective &amp; 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784223"/>
            <a:ext cx="4206240" cy="101612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1168" y="1784223"/>
            <a:ext cx="50292" cy="101612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" y="1857375"/>
            <a:ext cx="384048" cy="23774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1857375"/>
            <a:ext cx="38404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7" y="1857375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7" y="1857375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839087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 dirty="0">
                <a:solidFill>
                  <a:srgbClr val="B05A3A"/>
                </a:solidFill>
                <a:latin typeface="Calibri"/>
              </a:rPr>
              <a:t>Data Cleaning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" y="2131695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168271"/>
            <a:ext cx="4023359" cy="568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 dirty="0">
                <a:solidFill>
                  <a:srgbClr val="2D3748"/>
                </a:solidFill>
                <a:latin typeface="Calibri"/>
              </a:rPr>
              <a:t>▸  Before Data Cleaning</a:t>
            </a:r>
          </a:p>
          <a:p>
            <a:pPr algn="l"/>
            <a:r>
              <a:rPr sz="750" b="0" i="0" dirty="0">
                <a:solidFill>
                  <a:srgbClr val="2D3748"/>
                </a:solidFill>
                <a:latin typeface="Calibri"/>
              </a:rPr>
              <a:t>▸  After Data Cleaning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873502"/>
            <a:ext cx="4206240" cy="101612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01168" y="2873502"/>
            <a:ext cx="50292" cy="101612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2608" y="2946654"/>
            <a:ext cx="384048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2946654"/>
            <a:ext cx="384048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38727" y="2946654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7" y="2946654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7–11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928366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6B8A"/>
                </a:solidFill>
                <a:latin typeface="Calibri"/>
              </a:rPr>
              <a:t>EDA — Distributions &amp; Charts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" y="3220974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257550"/>
            <a:ext cx="4023359" cy="568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Summary Statistics  ·  Sales Distribution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Sales by Category  ·  Sales vs Profit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Discount vs Profit  ·  Correlation Heatmap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3962780"/>
            <a:ext cx="4206240" cy="101612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01168" y="3962780"/>
            <a:ext cx="50292" cy="101612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8" y="4035932"/>
            <a:ext cx="384048" cy="237744"/>
          </a:xfrm>
          <a:prstGeom prst="rect">
            <a:avLst/>
          </a:prstGeom>
          <a:solidFill>
            <a:srgbClr val="C8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4553" y="4039388"/>
            <a:ext cx="34015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</a:t>
            </a: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6</a:t>
            </a:r>
            <a:endParaRPr sz="9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538727" y="4035932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7" y="4035932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21–25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035540"/>
            <a:ext cx="2743199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50" b="1" dirty="0">
                <a:solidFill>
                  <a:srgbClr val="B05A3A"/>
                </a:solidFill>
                <a:latin typeface="Calibri"/>
              </a:rPr>
              <a:t>Time Series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" y="4310252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4346828"/>
            <a:ext cx="4023359" cy="5680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 dirty="0">
                <a:solidFill>
                  <a:srgbClr val="1C2D4E"/>
                </a:solidFill>
                <a:latin typeface="Calibri"/>
              </a:rPr>
              <a:t>▸  Executive Summary  ·  Sales Trend Chart</a:t>
            </a:r>
          </a:p>
          <a:p>
            <a:pPr algn="l"/>
            <a:r>
              <a:rPr sz="750" b="0" i="0" dirty="0">
                <a:solidFill>
                  <a:srgbClr val="1C2D4E"/>
                </a:solidFill>
                <a:latin typeface="Calibri"/>
              </a:rPr>
              <a:t>▸  Key Observations  ·  Year-by-Year Summary</a:t>
            </a:r>
          </a:p>
          <a:p>
            <a:pPr algn="l"/>
            <a:r>
              <a:rPr sz="750" b="0" i="0" dirty="0">
                <a:solidFill>
                  <a:srgbClr val="1C2D4E"/>
                </a:solidFill>
                <a:latin typeface="Calibri"/>
              </a:rPr>
              <a:t>▸  Conclusions &amp; Recommendations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6592" y="694944"/>
            <a:ext cx="4206240" cy="137921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36592" y="694944"/>
            <a:ext cx="50292" cy="1379219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28031" y="768096"/>
            <a:ext cx="384048" cy="23774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9976" y="771552"/>
            <a:ext cx="340158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</a:t>
            </a: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4</a:t>
            </a:r>
            <a:endParaRPr sz="9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074151" y="768096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74151" y="768096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12–14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5231" y="749808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B05A3A"/>
                </a:solidFill>
                <a:latin typeface="Calibri"/>
              </a:rPr>
              <a:t>Machine Learning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18888" y="1042416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55464" y="1078992"/>
            <a:ext cx="4023359" cy="931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Feature Engineering &amp; Preparation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Correlation Heatmap &amp; Insights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ML Models Results &amp; Comparison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36592" y="2147316"/>
            <a:ext cx="4206240" cy="137921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736592" y="2147316"/>
            <a:ext cx="50292" cy="1379219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828031" y="2220468"/>
            <a:ext cx="384048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53182" y="2223924"/>
            <a:ext cx="333746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</a:t>
            </a:r>
            <a:r>
              <a:rPr lang="en-US" sz="900" b="1" i="0" dirty="0">
                <a:solidFill>
                  <a:srgbClr val="FFFFFF"/>
                </a:solidFill>
                <a:latin typeface="Georgia"/>
              </a:rPr>
              <a:t>5</a:t>
            </a:r>
            <a:endParaRPr sz="9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74151" y="2220468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74151" y="2220468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15–20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85231" y="2202180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6B8A"/>
                </a:solidFill>
                <a:latin typeface="Calibri"/>
              </a:rPr>
              <a:t>Business Questions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18888" y="2494787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55464" y="2531364"/>
            <a:ext cx="4023359" cy="931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Top Category &amp; Customer Segment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Most Profitable Region &amp; States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Top Cities  ·  Discount vs Profit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36592" y="3599688"/>
            <a:ext cx="4206240" cy="1379219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736592" y="3599688"/>
            <a:ext cx="50292" cy="1379219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828031" y="3672840"/>
            <a:ext cx="384048" cy="23774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55587" y="3676296"/>
            <a:ext cx="328937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Georgia"/>
              </a:rPr>
              <a:t>0</a:t>
            </a:r>
            <a:r>
              <a:rPr lang="en-US" sz="900" b="1" dirty="0">
                <a:solidFill>
                  <a:srgbClr val="FFFFFF"/>
                </a:solidFill>
                <a:latin typeface="Georgia"/>
              </a:rPr>
              <a:t>7</a:t>
            </a:r>
            <a:endParaRPr sz="9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74151" y="3672840"/>
            <a:ext cx="804672" cy="182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74151" y="3672840"/>
            <a:ext cx="80467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 i="0">
                <a:solidFill>
                  <a:srgbClr val="A0AEC0"/>
                </a:solidFill>
                <a:latin typeface="Calibri"/>
              </a:rPr>
              <a:t>Slides 26–27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5231" y="3654552"/>
            <a:ext cx="27431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B05A3A"/>
                </a:solidFill>
                <a:latin typeface="Calibri"/>
              </a:rPr>
              <a:t>Conclusion &amp; Recommendations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18888" y="3947160"/>
            <a:ext cx="4041648" cy="1463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55464" y="3983736"/>
            <a:ext cx="4023359" cy="931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Key Takeaways from the BI Project</a:t>
            </a:r>
          </a:p>
          <a:p>
            <a:pPr algn="l"/>
            <a:r>
              <a:rPr sz="750" b="0" i="0">
                <a:solidFill>
                  <a:srgbClr val="2D3748"/>
                </a:solidFill>
                <a:latin typeface="Calibri"/>
              </a:rPr>
              <a:t>▸ 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927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28016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7589520" y="1645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4A"/>
                </a:solidFill>
              </a:rPr>
              <a:t>9,995 × 21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780368"/>
            <a:ext cx="4160520" cy="176166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10829" y="803108"/>
            <a:ext cx="416052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8" name="Text 6"/>
          <p:cNvSpPr/>
          <p:nvPr/>
        </p:nvSpPr>
        <p:spPr>
          <a:xfrm>
            <a:off x="160020" y="81718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 Info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" y="1380744"/>
            <a:ext cx="91440" cy="9144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640080" y="13258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Row 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" y="1627632"/>
            <a:ext cx="91440" cy="9144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2" name="Text 10"/>
          <p:cNvSpPr/>
          <p:nvPr/>
        </p:nvSpPr>
        <p:spPr>
          <a:xfrm>
            <a:off x="640080" y="1572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Order 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" y="1874520"/>
            <a:ext cx="91440" cy="9144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640080" y="18196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Order 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" y="2121408"/>
            <a:ext cx="91440" cy="9144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40080" y="20665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Ship Date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" y="2368296"/>
            <a:ext cx="91440" cy="91440"/>
          </a:xfrm>
          <a:prstGeom prst="ellipse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64008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Ship Mode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829" y="2596594"/>
            <a:ext cx="4160520" cy="1490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0" name="Shape 18"/>
          <p:cNvSpPr/>
          <p:nvPr/>
        </p:nvSpPr>
        <p:spPr>
          <a:xfrm>
            <a:off x="10829" y="2633170"/>
            <a:ext cx="416052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1" name="Text 19"/>
          <p:cNvSpPr/>
          <p:nvPr/>
        </p:nvSpPr>
        <p:spPr>
          <a:xfrm>
            <a:off x="160020" y="26461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 Info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" y="320954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Product ID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" y="345643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640080" y="34015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Category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" y="370332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7" name="Text 25"/>
          <p:cNvSpPr/>
          <p:nvPr/>
        </p:nvSpPr>
        <p:spPr>
          <a:xfrm>
            <a:off x="640080" y="36484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Sub-Category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" y="395020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27"/>
          <p:cNvSpPr/>
          <p:nvPr/>
        </p:nvSpPr>
        <p:spPr>
          <a:xfrm>
            <a:off x="640080" y="38953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Product Name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960120"/>
            <a:ext cx="4160520" cy="24780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2" name="Text 30"/>
          <p:cNvSpPr/>
          <p:nvPr/>
        </p:nvSpPr>
        <p:spPr>
          <a:xfrm>
            <a:off x="480060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Info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28032" y="138074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4" name="Text 32"/>
          <p:cNvSpPr/>
          <p:nvPr/>
        </p:nvSpPr>
        <p:spPr>
          <a:xfrm>
            <a:off x="4983480" y="13258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Customer ID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28032" y="1627632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4983480" y="1572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Customer Name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28032" y="187452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8" name="Text 36"/>
          <p:cNvSpPr/>
          <p:nvPr/>
        </p:nvSpPr>
        <p:spPr>
          <a:xfrm>
            <a:off x="4983480" y="18196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Segment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28032" y="2121408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0" name="Text 38"/>
          <p:cNvSpPr/>
          <p:nvPr/>
        </p:nvSpPr>
        <p:spPr>
          <a:xfrm>
            <a:off x="4983480" y="20665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Country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828032" y="2368296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2" name="Text 40"/>
          <p:cNvSpPr/>
          <p:nvPr/>
        </p:nvSpPr>
        <p:spPr>
          <a:xfrm>
            <a:off x="4983480" y="231343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City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28032" y="2615184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4" name="Text 42"/>
          <p:cNvSpPr/>
          <p:nvPr/>
        </p:nvSpPr>
        <p:spPr>
          <a:xfrm>
            <a:off x="4983480" y="25603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State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828032" y="2862072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6" name="Text 44"/>
          <p:cNvSpPr/>
          <p:nvPr/>
        </p:nvSpPr>
        <p:spPr>
          <a:xfrm>
            <a:off x="4983480" y="280720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Postal Code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28032" y="3108960"/>
            <a:ext cx="91440" cy="914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8" name="Text 46"/>
          <p:cNvSpPr/>
          <p:nvPr/>
        </p:nvSpPr>
        <p:spPr>
          <a:xfrm>
            <a:off x="4983480" y="305409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Region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663440" y="3246120"/>
            <a:ext cx="4160520" cy="14904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50" name="Shape 48"/>
          <p:cNvSpPr/>
          <p:nvPr/>
        </p:nvSpPr>
        <p:spPr>
          <a:xfrm>
            <a:off x="4663440" y="3246120"/>
            <a:ext cx="4160520" cy="34747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1" name="Text 49"/>
          <p:cNvSpPr/>
          <p:nvPr/>
        </p:nvSpPr>
        <p:spPr>
          <a:xfrm>
            <a:off x="480060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828032" y="3666744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3" name="Text 51"/>
          <p:cNvSpPr/>
          <p:nvPr/>
        </p:nvSpPr>
        <p:spPr>
          <a:xfrm>
            <a:off x="4983480" y="361188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Sales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828032" y="391363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5" name="Text 53"/>
          <p:cNvSpPr/>
          <p:nvPr/>
        </p:nvSpPr>
        <p:spPr>
          <a:xfrm>
            <a:off x="4983480" y="385876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Quantity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828032" y="416052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7" name="Text 55"/>
          <p:cNvSpPr/>
          <p:nvPr/>
        </p:nvSpPr>
        <p:spPr>
          <a:xfrm>
            <a:off x="4983480" y="410565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Discount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828032" y="4407408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9" name="Text 57"/>
          <p:cNvSpPr/>
          <p:nvPr/>
        </p:nvSpPr>
        <p:spPr>
          <a:xfrm>
            <a:off x="4983480" y="435254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4A"/>
                </a:solidFill>
              </a:rPr>
              <a:t>Profit</a:t>
            </a:r>
            <a:endParaRPr 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03639C-D430-E849-2D3C-0BD7DF183D7B}"/>
              </a:ext>
            </a:extLst>
          </p:cNvPr>
          <p:cNvSpPr txBox="1"/>
          <p:nvPr/>
        </p:nvSpPr>
        <p:spPr>
          <a:xfrm>
            <a:off x="10829" y="4248289"/>
            <a:ext cx="45720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rgbClr val="1A2B4A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1A2B4A"/>
                </a:solidFill>
              </a:rPr>
              <a:t>The dataset contains 9,995 rows and 21 columns representing Walmart sales transactions.</a:t>
            </a:r>
            <a:br>
              <a:rPr lang="en-US" sz="1400" dirty="0">
                <a:solidFill>
                  <a:srgbClr val="1A2B4A"/>
                </a:solidFill>
              </a:rPr>
            </a:br>
            <a:r>
              <a:rPr lang="en-US" sz="1400" dirty="0">
                <a:solidFill>
                  <a:srgbClr val="1A2B4A"/>
                </a:solidFill>
              </a:rPr>
              <a:t>It includes important features such as Sales, Profit, Category, Segment, Region, and Order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 &amp;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2304288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Introduction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03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E3A4E"/>
                </a:solidFill>
              </a:rPr>
              <a:t>Business Intelligence (BI) is the process of analyzing data to support better business decisions.</a:t>
            </a:r>
            <a:br>
              <a:rPr lang="en-US" sz="1400" dirty="0">
                <a:solidFill>
                  <a:srgbClr val="2E3A4E"/>
                </a:solidFill>
              </a:rPr>
            </a:br>
            <a:r>
              <a:rPr lang="en-US" sz="1400" dirty="0">
                <a:solidFill>
                  <a:srgbClr val="2E3A4E"/>
                </a:solidFill>
              </a:rPr>
              <a:t>In this project, we analyze Walmart sales data to understand customer behavior, product performance, and regional trends.</a:t>
            </a:r>
            <a:br>
              <a:rPr lang="en-US" sz="1400" dirty="0">
                <a:solidFill>
                  <a:srgbClr val="2E3A4E"/>
                </a:solidFill>
              </a:rPr>
            </a:br>
            <a:r>
              <a:rPr lang="en-US" sz="1400" dirty="0">
                <a:solidFill>
                  <a:srgbClr val="2E3A4E"/>
                </a:solidFill>
              </a:rPr>
              <a:t>The goal is to extract useful insights that help improve sales and profitability.</a:t>
            </a:r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206240" cy="178308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4206240" cy="38404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 Objective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2E3A4E"/>
                </a:solidFill>
              </a:rPr>
              <a:t>The main objective of this project is to analyze Walmart sales data to identify:</a:t>
            </a:r>
          </a:p>
          <a:p>
            <a:r>
              <a:rPr lang="en-US" sz="1400" dirty="0">
                <a:solidFill>
                  <a:srgbClr val="2E3A4E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2E3A4E"/>
                </a:solidFill>
              </a:rPr>
              <a:t>The most profitable products and categories </a:t>
            </a:r>
          </a:p>
          <a:p>
            <a:r>
              <a:rPr lang="en-US" sz="1400" dirty="0">
                <a:solidFill>
                  <a:srgbClr val="2E3A4E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2E3A4E"/>
                </a:solidFill>
              </a:rPr>
              <a:t>The best-performing customer segments </a:t>
            </a:r>
          </a:p>
          <a:p>
            <a:r>
              <a:rPr lang="en-US" sz="1400" dirty="0">
                <a:solidFill>
                  <a:srgbClr val="2E3A4E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2E3A4E"/>
                </a:solidFill>
              </a:rPr>
              <a:t>The top regions in terms of sales and profit </a:t>
            </a:r>
          </a:p>
          <a:p>
            <a:r>
              <a:rPr lang="en-US" sz="1400" dirty="0">
                <a:solidFill>
                  <a:srgbClr val="2E3A4E"/>
                </a:solidFill>
                <a:sym typeface="Wingdings" panose="05000000000000000000" pitchFamily="2" charset="2"/>
              </a:rPr>
              <a:t></a:t>
            </a:r>
            <a:r>
              <a:rPr lang="en-US" sz="1400" dirty="0">
                <a:solidFill>
                  <a:srgbClr val="2E3A4E"/>
                </a:solidFill>
              </a:rPr>
              <a:t>Patterns and trends in sales over time</a:t>
            </a:r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4206240" cy="196596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4617720" y="2834640"/>
            <a:ext cx="4206240" cy="38404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70916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2E3A4E"/>
                </a:solidFill>
              </a:rPr>
              <a:t>Walmart needs to understand which products, customer segments, and regions generate the highest sales and profits.</a:t>
            </a:r>
            <a:br>
              <a:rPr lang="en-US" sz="1400" dirty="0">
                <a:solidFill>
                  <a:srgbClr val="2E3A4E"/>
                </a:solidFill>
              </a:rPr>
            </a:br>
            <a:r>
              <a:rPr lang="en-US" sz="1400" dirty="0">
                <a:solidFill>
                  <a:srgbClr val="2E3A4E"/>
                </a:solidFill>
              </a:rPr>
              <a:t>The challenge is to analyze the data and provide insights that support better decision-making.</a:t>
            </a:r>
          </a:p>
          <a:p>
            <a:pPr marL="0" indent="0">
              <a:lnSpc>
                <a:spcPct val="14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9,995 × 21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 </a:t>
            </a: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55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 </a:t>
            </a: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286000"/>
            <a:ext cx="4114800" cy="347472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2004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Issues Identified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2633472"/>
            <a:ext cx="41148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→ 23 missing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Discount → 49 missing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Data Types: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detected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 Date &amp; Ship Date stored as text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Detected: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Sales, Profit, Quantity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Impact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1261872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617720" y="1261872"/>
            <a:ext cx="64008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73168" y="126187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affect analysis accuracy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2203704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17720" y="2203704"/>
            <a:ext cx="64008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73168" y="2203704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lead to misleading insights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3145536"/>
            <a:ext cx="4297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617720" y="3145536"/>
            <a:ext cx="64008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73168" y="3145536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model performance in ML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4114800"/>
            <a:ext cx="4297680" cy="749808"/>
          </a:xfrm>
          <a:prstGeom prst="rect">
            <a:avLst/>
          </a:prstGeom>
          <a:solidFill>
            <a:srgbClr val="243558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4069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must be resolved before analysis to ensure accurate and reliable results.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4266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Cleaning Steps Applied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64008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4048" y="1316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fill → Ship Mode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fill → Discount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15798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28600" y="2157984"/>
            <a:ext cx="64008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84048" y="2212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2468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duplicate rows removed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305409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28600" y="3054096"/>
            <a:ext cx="64008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84048" y="3108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&amp; Ship Date → DateTime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95020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28600" y="3950208"/>
            <a:ext cx="64008" cy="7498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84048" y="4005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Quantity → capped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0916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After Cleaning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1261872"/>
            <a:ext cx="2011680" cy="118872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17720" y="1353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61772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1261872"/>
            <a:ext cx="2011680" cy="118872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812280" y="13533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812280" y="2011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17720" y="2679192"/>
            <a:ext cx="2011680" cy="118872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617720" y="2770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4617720" y="3429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Types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12280" y="2679192"/>
            <a:ext cx="2011680" cy="118872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812280" y="27706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6812280" y="3429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Handled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617720" y="4114800"/>
            <a:ext cx="4297680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4709160" y="4114800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Improved data quality · More accurate analysis · Better ML performance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720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EDA - 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Georgia"/>
              </a:rPr>
              <a:t>After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1417320" cy="53035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" y="86868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868680"/>
            <a:ext cx="1737360" cy="53035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19072" y="868680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868680"/>
            <a:ext cx="1737360" cy="53035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868680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868680"/>
            <a:ext cx="1737360" cy="53035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868680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868680"/>
            <a:ext cx="1737360" cy="53035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31152" y="868680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399031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" y="1399031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D3748"/>
                </a:solidFill>
                <a:latin typeface="Calibri"/>
              </a:rPr>
              <a:t>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1399031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19072" y="1399031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140.28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399031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1399031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16.07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399031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3792" y="1399031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0.157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399031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1152" y="1399031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3.75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29384"/>
            <a:ext cx="1417320" cy="5303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" y="1929384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D3748"/>
                </a:solidFill>
                <a:latin typeface="Calibri"/>
              </a:rPr>
              <a:t>Max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1929384"/>
            <a:ext cx="1737360" cy="5303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19072" y="1929384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498.93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1929384"/>
            <a:ext cx="1737360" cy="5303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56432" y="1929384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70.82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1929384"/>
            <a:ext cx="1737360" cy="5303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93792" y="1929384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0.80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1929384"/>
            <a:ext cx="1737360" cy="5303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31152" y="1929384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9.50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459735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1752" y="2459735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D3748"/>
                </a:solidFill>
                <a:latin typeface="Calibri"/>
              </a:rPr>
              <a:t>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0" y="2459735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19072" y="2459735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0.44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2459735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56432" y="2459735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−39.72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2459735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93792" y="2459735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0.00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2459735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31152" y="2459735"/>
            <a:ext cx="16459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8A020"/>
                </a:solidFill>
                <a:latin typeface="Calibri"/>
              </a:rPr>
              <a:t>1.00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82112"/>
            <a:ext cx="8686800" cy="45720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3182112"/>
            <a:ext cx="8321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A0AEC0"/>
                </a:solidFill>
                <a:latin typeface="Calibri"/>
              </a:rPr>
              <a:t>Summary of key numerical features after cleaning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Sales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Georgia"/>
              </a:rPr>
              <a:t>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3749039" cy="347472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84124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4358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D3748"/>
                </a:solidFill>
                <a:latin typeface="Calibri"/>
              </a:rPr>
              <a:t>Most orders are in lower sales ranges — high-value orders are fewer.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6220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36220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1706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Right-skewed shape indicates small orders happen more frequently.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3568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53568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59054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Helps explain daily order behavior and demand patterns.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841248"/>
            <a:ext cx="4754880" cy="34747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841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88720"/>
            <a:ext cx="4754880" cy="3429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4462272"/>
            <a:ext cx="8686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46227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Calibri"/>
              </a:rPr>
              <a:t>→  Focus operations on frequent small orders, with separate plans to grow large 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Sales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Georgia"/>
              </a:rPr>
              <a:t>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3749039" cy="347472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84124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4358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Office Supplies leads total sales among all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6220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36220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1706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Furniture and Technology are strong but slightly lower.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3568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53568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59054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D3748"/>
                </a:solidFill>
                <a:latin typeface="Calibri"/>
              </a:rPr>
              <a:t>Sales are concentrated in a few key categories.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841248"/>
            <a:ext cx="4983480" cy="34747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41648" y="841248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188720"/>
            <a:ext cx="4983480" cy="3429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4462272"/>
            <a:ext cx="8686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46227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Calibri"/>
              </a:rPr>
              <a:t>→  Prioritize budget, stock, and campaigns around top categories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Sales vs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Georgia"/>
              </a:rPr>
              <a:t>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3749039" cy="347472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84124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4358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Profit usually rises with sales, but not at a constant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6220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36220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1706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The relationship is positive but not perfectly linear.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3568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535680"/>
            <a:ext cx="64008" cy="10820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59054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Some high-sales orders still return low profit.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841248"/>
            <a:ext cx="4754880" cy="34747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841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88720"/>
            <a:ext cx="4754880" cy="3429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4462272"/>
            <a:ext cx="8686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46227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Calibri"/>
              </a:rPr>
              <a:t>→  Track margin quality with sales growth to avoid weak-profit growth.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Discount vs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Georgia"/>
              </a:rPr>
              <a:t>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41248"/>
            <a:ext cx="3749039" cy="347472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84124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4358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Higher discount levels are often linked with lower profit.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6220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" y="236220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1706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At high discounts, low-profit and negative-profit points appear more often.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35680"/>
            <a:ext cx="3749039" cy="1082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535680"/>
            <a:ext cx="64008" cy="1082040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590544"/>
            <a:ext cx="34290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748"/>
                </a:solidFill>
                <a:latin typeface="Calibri"/>
              </a:rPr>
              <a:t>Discounts can boost sales but may reduce margin fast.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841248"/>
            <a:ext cx="4754880" cy="347472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841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188720"/>
            <a:ext cx="4754880" cy="3429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4462272"/>
            <a:ext cx="8686800" cy="5029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46227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2D4E"/>
                </a:solidFill>
                <a:latin typeface="Calibri"/>
              </a:rPr>
              <a:t>→  Use discount limits by category/segment to protect profitability.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Walmart Sales Prediction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14800" cy="347472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38328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Columns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64008" cy="1463040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ID, Order ID, Customer ID,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Customer Name, Product 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761488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8328" y="27614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 for Prediction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3108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64008" cy="17830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379476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Mode, Segment, Region, Category,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Sub-Category, Quantity, Discount, Profit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27448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Data Split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188720"/>
            <a:ext cx="4297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17720" y="1188720"/>
            <a:ext cx="6400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00600" y="12344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categorical features to convert them into numerical format suitable for ML models.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2331720"/>
            <a:ext cx="4297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617720" y="2331720"/>
            <a:ext cx="64008" cy="1554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800600" y="237744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 — 80% training / 20% testing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fair and accurate model performance evaluation.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4041648"/>
            <a:ext cx="4297680" cy="804672"/>
          </a:xfrm>
          <a:prstGeom prst="rect">
            <a:avLst/>
          </a:prstGeom>
          <a:solidFill>
            <a:srgbClr val="243558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4041648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ensure clean, well-structured input data to maximize model accuracy and reliability.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92948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Heatmap &amp;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26187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64008" cy="1097280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3350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Discount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60934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correlation (−0.5).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significantly reduce profits.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" y="2496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496312"/>
            <a:ext cx="64008" cy="10972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6946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84378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(0.45).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sales generally increase profits.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" y="373075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730752"/>
            <a:ext cx="64008" cy="109728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8039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&amp; Sales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07822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has a weak positive effect on sales.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34440"/>
            <a:ext cx="4206240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21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0" y="91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114800" cy="347472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64008" cy="1965960"/>
          </a:xfrm>
          <a:prstGeom prst="rect">
            <a:avLst/>
          </a:prstGeom>
          <a:solidFill>
            <a:srgbClr val="B05A3A"/>
          </a:solidFill>
          <a:ln w="12700">
            <a:solidFill>
              <a:srgbClr val="B0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 </a:t>
            </a:r>
            <a:r>
              <a:rPr lang="en-US" sz="15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</a:t>
            </a:r>
            <a:r>
              <a:rPr lang="en-US" sz="15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 </a:t>
            </a:r>
            <a:r>
              <a:rPr lang="en-US" sz="1500" b="1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411480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" y="3593592"/>
            <a:ext cx="4114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3593592"/>
            <a:ext cx="64008" cy="12984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6576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 </a:t>
            </a:r>
            <a:r>
              <a:rPr lang="en-US" sz="15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233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</a:t>
            </a:r>
            <a:r>
              <a:rPr lang="en-US" sz="15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3891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Score:  </a:t>
            </a:r>
            <a:r>
              <a:rPr lang="en-US" sz="15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841248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1188720"/>
            <a:ext cx="4297680" cy="34747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1188720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53328" y="1188720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88936" y="1188720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1536192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1536192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53328" y="1536192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88936" y="1536192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17720" y="2066544"/>
            <a:ext cx="4297680" cy="502920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2066544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53328" y="2066544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88936" y="2066544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17720" y="2596896"/>
            <a:ext cx="4297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2596896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53328" y="2596896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88936" y="2596896"/>
            <a:ext cx="1435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617720" y="3246120"/>
            <a:ext cx="4297680" cy="347472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27448" y="3246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17720" y="3593592"/>
            <a:ext cx="42976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3593592"/>
            <a:ext cx="64008" cy="12984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3639312"/>
            <a:ext cx="39776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significantly outperforms Linear Regression with higher accuracy (R² 0.85 vs 0.63) and lower prediction error, as it captures complex non-linear relationships between features.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6707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Which category has the highest sales?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411" y="68580"/>
            <a:ext cx="1508760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476411" y="57039"/>
            <a:ext cx="1508760" cy="219291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ctr"/>
            <a:r>
              <a:rPr sz="1200" b="1" dirty="0">
                <a:solidFill>
                  <a:srgbClr val="1C2D4E"/>
                </a:solidFill>
                <a:latin typeface="Georgia"/>
              </a:rPr>
              <a:t>Q1 —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Office Supplies has the highest total sales volume among all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Prioritize inventory and marketing investment in Office Supplies to maximize revenue.</a:t>
            </a:r>
          </a:p>
        </p:txBody>
      </p:sp>
    </p:spTree>
    <p:extLst>
      <p:ext uri="{BB962C8B-B14F-4D97-AF65-F5344CB8AC3E}">
        <p14:creationId xmlns:p14="http://schemas.microsoft.com/office/powerpoint/2010/main" val="2564465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Which customer segment drives the most sales?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411" y="68580"/>
            <a:ext cx="1508760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476411" y="68581"/>
            <a:ext cx="1508760" cy="2192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Georgia"/>
              </a:rPr>
              <a:t>Q2 — Segment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The "Consumer" segment is our primary revenue driver, contributing the most to total sales.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Focus retention and loyalty programs on Consumer segment — it's our top revenue source.</a:t>
            </a:r>
          </a:p>
        </p:txBody>
      </p:sp>
    </p:spTree>
    <p:extLst>
      <p:ext uri="{BB962C8B-B14F-4D97-AF65-F5344CB8AC3E}">
        <p14:creationId xmlns:p14="http://schemas.microsoft.com/office/powerpoint/2010/main" val="2691291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Which region generates the most profit?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411" y="68580"/>
            <a:ext cx="1508760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476411" y="68581"/>
            <a:ext cx="1508760" cy="2192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Georgia"/>
              </a:rPr>
              <a:t>Q3 — Region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The West Region is our most profitable area, leading both in total sales and profit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Allocate additional resources and campaigns to sustain and grow the West Region's advantage.</a:t>
            </a:r>
          </a:p>
        </p:txBody>
      </p:sp>
    </p:spTree>
    <p:extLst>
      <p:ext uri="{BB962C8B-B14F-4D97-AF65-F5344CB8AC3E}">
        <p14:creationId xmlns:p14="http://schemas.microsoft.com/office/powerpoint/2010/main" val="1041406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Which states lead in sales and profit?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411" y="68580"/>
            <a:ext cx="1508760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476411" y="68581"/>
            <a:ext cx="1508760" cy="2192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Georgia"/>
              </a:rPr>
              <a:t>Q4 — Geography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California and New York are the top markets in both sales and profit, dominating the map.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Double down on California and New York with targeted campaigns and local stock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422838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Which cities are the most profitable?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476411" y="68580"/>
            <a:ext cx="1508760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476411" y="68581"/>
            <a:ext cx="1508760" cy="2192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C2D4E"/>
                </a:solidFill>
                <a:latin typeface="Georgia"/>
              </a:rPr>
              <a:t>Q5 — Cities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Top three cities by profit:
New York City  →  $22,245
Los Angeles     →  $16,778
San Francisco  →  $11,156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New York City, LA, and SF combined account for the lion's share of profit — prioritize these markets.</a:t>
            </a:r>
          </a:p>
        </p:txBody>
      </p:sp>
    </p:spTree>
    <p:extLst>
      <p:ext uri="{BB962C8B-B14F-4D97-AF65-F5344CB8AC3E}">
        <p14:creationId xmlns:p14="http://schemas.microsoft.com/office/powerpoint/2010/main" val="2837657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1435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275511" y="0"/>
            <a:ext cx="65151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Georgia"/>
              </a:rPr>
              <a:t>What is the relationship between Discount and Profit?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9000" y="13717"/>
            <a:ext cx="1746171" cy="46515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" name="TextBox 4"/>
          <p:cNvSpPr txBox="1"/>
          <p:nvPr/>
        </p:nvSpPr>
        <p:spPr>
          <a:xfrm>
            <a:off x="7239000" y="24338"/>
            <a:ext cx="174617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1C2D4E"/>
                </a:solidFill>
                <a:latin typeface="Georgia"/>
              </a:rPr>
              <a:t>Q6 —Correlation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931" y="630936"/>
            <a:ext cx="3360420" cy="26060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289227" y="630936"/>
            <a:ext cx="3223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06931" y="891540"/>
            <a:ext cx="3360420" cy="35798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9" name="Rectangle 8"/>
          <p:cNvSpPr/>
          <p:nvPr/>
        </p:nvSpPr>
        <p:spPr>
          <a:xfrm>
            <a:off x="206931" y="891540"/>
            <a:ext cx="48006" cy="357987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0" name="TextBox 9"/>
          <p:cNvSpPr txBox="1"/>
          <p:nvPr/>
        </p:nvSpPr>
        <p:spPr>
          <a:xfrm>
            <a:off x="378381" y="973836"/>
            <a:ext cx="30518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3748"/>
                </a:solidFill>
                <a:latin typeface="Calibri"/>
              </a:rPr>
              <a:t>There is a strong negative correlation (−0.5) between Discount and Profit.
Higher discounts consistently reduce profit margins.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7381" y="630936"/>
            <a:ext cx="5109210" cy="260604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889677" y="630936"/>
            <a:ext cx="4972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pic>
        <p:nvPicPr>
          <p:cNvPr id="13" name="Picture 12" descr="aqimg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81" y="946404"/>
            <a:ext cx="5109210" cy="35661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6931" y="4649724"/>
            <a:ext cx="8730234" cy="37719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TextBox 14"/>
          <p:cNvSpPr txBox="1"/>
          <p:nvPr/>
        </p:nvSpPr>
        <p:spPr>
          <a:xfrm>
            <a:off x="344091" y="4649724"/>
            <a:ext cx="8455914" cy="22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2D4E"/>
                </a:solidFill>
                <a:latin typeface="Calibri"/>
              </a:rPr>
              <a:t>→  Cap discounts by category/segment — high discounts directly damage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722899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12671" y="205740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</a:rPr>
              <a:t>Time Series Analysis — Monthly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2671" y="960120"/>
            <a:ext cx="822960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75" i="1">
                <a:solidFill>
                  <a:srgbClr val="55657A"/>
                </a:solidFill>
              </a:rPr>
              <a:t>Time series created by grouping Sales by Order Date (monthly frequency)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44091" y="1337310"/>
            <a:ext cx="84353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344091" y="3518154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523566" y="3867912"/>
            <a:ext cx="62364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703041" y="3284982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882517" y="3634740"/>
            <a:ext cx="568202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1061992" y="3110103"/>
            <a:ext cx="356007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1241468" y="3401568"/>
            <a:ext cx="62364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1420943" y="2818638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1600418" y="3168396"/>
            <a:ext cx="356007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1779894" y="3459861"/>
            <a:ext cx="568202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1959369" y="2935224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2138844" y="2527173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2318320" y="2119122"/>
            <a:ext cx="130865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2497795" y="3401568"/>
            <a:ext cx="356007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2677270" y="3693033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2856745" y="3051810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3036221" y="3459861"/>
            <a:ext cx="568202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3215696" y="2935224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3395171" y="3284982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3574647" y="2643759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3754122" y="2993517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3933598" y="3343275"/>
            <a:ext cx="568202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4113072" y="2818638"/>
            <a:ext cx="51340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Rectangle 27"/>
          <p:cNvSpPr/>
          <p:nvPr/>
        </p:nvSpPr>
        <p:spPr>
          <a:xfrm>
            <a:off x="4292548" y="2352294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Rectangle 28"/>
          <p:cNvSpPr/>
          <p:nvPr/>
        </p:nvSpPr>
        <p:spPr>
          <a:xfrm>
            <a:off x="4472023" y="1944243"/>
            <a:ext cx="136641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Rectangle 29"/>
          <p:cNvSpPr/>
          <p:nvPr/>
        </p:nvSpPr>
        <p:spPr>
          <a:xfrm>
            <a:off x="4651499" y="3284982"/>
            <a:ext cx="356007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Rectangle 30"/>
          <p:cNvSpPr/>
          <p:nvPr/>
        </p:nvSpPr>
        <p:spPr>
          <a:xfrm>
            <a:off x="4830973" y="3576447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Rectangle 31"/>
          <p:cNvSpPr/>
          <p:nvPr/>
        </p:nvSpPr>
        <p:spPr>
          <a:xfrm>
            <a:off x="5010450" y="2935224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Rectangle 32"/>
          <p:cNvSpPr/>
          <p:nvPr/>
        </p:nvSpPr>
        <p:spPr>
          <a:xfrm>
            <a:off x="5189924" y="3343275"/>
            <a:ext cx="62364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5369400" y="2760345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Rectangle 34"/>
          <p:cNvSpPr/>
          <p:nvPr/>
        </p:nvSpPr>
        <p:spPr>
          <a:xfrm>
            <a:off x="5548875" y="3110103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Rectangle 35"/>
          <p:cNvSpPr/>
          <p:nvPr/>
        </p:nvSpPr>
        <p:spPr>
          <a:xfrm>
            <a:off x="5728350" y="2468880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Rectangle 36"/>
          <p:cNvSpPr/>
          <p:nvPr/>
        </p:nvSpPr>
        <p:spPr>
          <a:xfrm>
            <a:off x="5907826" y="2876931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/>
          <p:cNvSpPr/>
          <p:nvPr/>
        </p:nvSpPr>
        <p:spPr>
          <a:xfrm>
            <a:off x="6087301" y="3226689"/>
            <a:ext cx="62364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Rectangle 38"/>
          <p:cNvSpPr/>
          <p:nvPr/>
        </p:nvSpPr>
        <p:spPr>
          <a:xfrm>
            <a:off x="6266776" y="2643759"/>
            <a:ext cx="51340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/>
          <p:cNvSpPr/>
          <p:nvPr/>
        </p:nvSpPr>
        <p:spPr>
          <a:xfrm>
            <a:off x="6446252" y="2177415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Rectangle 40"/>
          <p:cNvSpPr/>
          <p:nvPr/>
        </p:nvSpPr>
        <p:spPr>
          <a:xfrm>
            <a:off x="6625726" y="1769364"/>
            <a:ext cx="142421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/>
          <p:cNvSpPr/>
          <p:nvPr/>
        </p:nvSpPr>
        <p:spPr>
          <a:xfrm>
            <a:off x="6805203" y="3168396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6984678" y="3518154"/>
            <a:ext cx="73588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Rectangle 43"/>
          <p:cNvSpPr/>
          <p:nvPr/>
        </p:nvSpPr>
        <p:spPr>
          <a:xfrm>
            <a:off x="7164153" y="2818638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Rectangle 44"/>
          <p:cNvSpPr/>
          <p:nvPr/>
        </p:nvSpPr>
        <p:spPr>
          <a:xfrm>
            <a:off x="7343628" y="3226689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Rectangle 45"/>
          <p:cNvSpPr/>
          <p:nvPr/>
        </p:nvSpPr>
        <p:spPr>
          <a:xfrm>
            <a:off x="7523104" y="2585466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Rectangle 46"/>
          <p:cNvSpPr/>
          <p:nvPr/>
        </p:nvSpPr>
        <p:spPr>
          <a:xfrm>
            <a:off x="7702579" y="2993517"/>
            <a:ext cx="735889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Rectangle 47"/>
          <p:cNvSpPr/>
          <p:nvPr/>
        </p:nvSpPr>
        <p:spPr>
          <a:xfrm>
            <a:off x="7882054" y="2294001"/>
            <a:ext cx="51340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Rectangle 48"/>
          <p:cNvSpPr/>
          <p:nvPr/>
        </p:nvSpPr>
        <p:spPr>
          <a:xfrm>
            <a:off x="8061530" y="2760345"/>
            <a:ext cx="406834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ectangle 49"/>
          <p:cNvSpPr/>
          <p:nvPr/>
        </p:nvSpPr>
        <p:spPr>
          <a:xfrm>
            <a:off x="8241004" y="3110103"/>
            <a:ext cx="67958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Rectangle 50"/>
          <p:cNvSpPr/>
          <p:nvPr/>
        </p:nvSpPr>
        <p:spPr>
          <a:xfrm>
            <a:off x="8420481" y="2468880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Rectangle 51"/>
          <p:cNvSpPr/>
          <p:nvPr/>
        </p:nvSpPr>
        <p:spPr>
          <a:xfrm>
            <a:off x="8599956" y="2060829"/>
            <a:ext cx="459493" cy="27432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3" name="TextBox 52"/>
          <p:cNvSpPr txBox="1"/>
          <p:nvPr/>
        </p:nvSpPr>
        <p:spPr>
          <a:xfrm>
            <a:off x="344091" y="3977640"/>
            <a:ext cx="685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55657A"/>
                </a:solidFill>
              </a:rPr>
              <a:t>2014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4091" y="1337310"/>
            <a:ext cx="13716" cy="2606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5" name="TextBox 54"/>
          <p:cNvSpPr txBox="1"/>
          <p:nvPr/>
        </p:nvSpPr>
        <p:spPr>
          <a:xfrm>
            <a:off x="2497795" y="3977640"/>
            <a:ext cx="685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55657A"/>
                </a:solidFill>
              </a:rPr>
              <a:t>2015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97795" y="1337310"/>
            <a:ext cx="13716" cy="2606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7" name="TextBox 56"/>
          <p:cNvSpPr txBox="1"/>
          <p:nvPr/>
        </p:nvSpPr>
        <p:spPr>
          <a:xfrm>
            <a:off x="4651499" y="3977640"/>
            <a:ext cx="685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55657A"/>
                </a:solidFill>
              </a:rPr>
              <a:t>2016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51499" y="1337310"/>
            <a:ext cx="13716" cy="2606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9" name="TextBox 58"/>
          <p:cNvSpPr txBox="1"/>
          <p:nvPr/>
        </p:nvSpPr>
        <p:spPr>
          <a:xfrm>
            <a:off x="6805202" y="3977640"/>
            <a:ext cx="6858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55657A"/>
                </a:solidFill>
              </a:rPr>
              <a:t>2017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5202" y="1337310"/>
            <a:ext cx="13716" cy="26060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1" name="TextBox 60"/>
          <p:cNvSpPr txBox="1"/>
          <p:nvPr/>
        </p:nvSpPr>
        <p:spPr>
          <a:xfrm>
            <a:off x="344091" y="4183380"/>
            <a:ext cx="85725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1A1A2E"/>
                </a:solidFill>
              </a:rPr>
              <a:t>Monthly Walmart Sales — Seasonal patterns visible (Q4 spikes)</a:t>
            </a:r>
          </a:p>
        </p:txBody>
      </p:sp>
    </p:spTree>
    <p:extLst>
      <p:ext uri="{BB962C8B-B14F-4D97-AF65-F5344CB8AC3E}">
        <p14:creationId xmlns:p14="http://schemas.microsoft.com/office/powerpoint/2010/main" val="2203421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12671" y="205740"/>
            <a:ext cx="822960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</a:rPr>
              <a:t>ARIMA Model — Time Series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5511" y="1028700"/>
            <a:ext cx="1611630" cy="2606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275511" y="1028700"/>
            <a:ext cx="1611630" cy="37719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275511" y="1028700"/>
            <a:ext cx="16116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A825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091" y="1453896"/>
            <a:ext cx="147447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63D6B"/>
                </a:solidFill>
              </a:rPr>
              <a:t>Stationarity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091" y="1817370"/>
            <a:ext cx="147447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1A1A2E"/>
                </a:solidFill>
              </a:rPr>
              <a:t>ADF Test on original series
→ Non-stationary detected
(p &gt; 0.05)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4300" y="1028700"/>
            <a:ext cx="1611630" cy="2606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2024300" y="1028700"/>
            <a:ext cx="1611630" cy="37719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/>
          <p:cNvSpPr txBox="1"/>
          <p:nvPr/>
        </p:nvSpPr>
        <p:spPr>
          <a:xfrm>
            <a:off x="2024300" y="1028700"/>
            <a:ext cx="16116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A825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2881" y="1453896"/>
            <a:ext cx="147447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63D6B"/>
                </a:solidFill>
              </a:rPr>
              <a:t>Differencing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2881" y="1817370"/>
            <a:ext cx="147447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1A1A2E"/>
                </a:solidFill>
              </a:rPr>
              <a:t>First difference applied
→ Series becomes stationary
(p ≤ 0.05)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3091" y="1028700"/>
            <a:ext cx="1611630" cy="2606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3773091" y="1028700"/>
            <a:ext cx="1611630" cy="37719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3773091" y="1028700"/>
            <a:ext cx="16116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A825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1671" y="1453896"/>
            <a:ext cx="147447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63D6B"/>
                </a:solidFill>
              </a:rPr>
              <a:t>ACF / PACF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1671" y="1817370"/>
            <a:ext cx="147447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1A1A2E"/>
                </a:solidFill>
              </a:rPr>
              <a:t>Plotted to determine
optimal p, d, q
paramters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1880" y="1028700"/>
            <a:ext cx="1611630" cy="2606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5521880" y="1028700"/>
            <a:ext cx="1611630" cy="37719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TextBox 20"/>
          <p:cNvSpPr txBox="1"/>
          <p:nvPr/>
        </p:nvSpPr>
        <p:spPr>
          <a:xfrm>
            <a:off x="5521880" y="1028700"/>
            <a:ext cx="16116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A825"/>
                </a:solidFill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0460" y="1453896"/>
            <a:ext cx="147447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63D6B"/>
                </a:solidFill>
              </a:rPr>
              <a:t>ARIMA(1,1,1)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0460" y="1817370"/>
            <a:ext cx="147447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1A1A2E"/>
                </a:solidFill>
              </a:rPr>
              <a:t>Model fitted on 80%
train data, tested on
remaining 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0671" y="1028700"/>
            <a:ext cx="1611630" cy="2606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7270671" y="1028700"/>
            <a:ext cx="1611630" cy="37719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7270671" y="1028700"/>
            <a:ext cx="16116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9A825"/>
                </a:solidFill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9251" y="1453896"/>
            <a:ext cx="147447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b="1">
                <a:solidFill>
                  <a:srgbClr val="063D6B"/>
                </a:solidFill>
              </a:rPr>
              <a:t>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9251" y="1817370"/>
            <a:ext cx="147447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5">
                <a:solidFill>
                  <a:srgbClr val="1A1A2E"/>
                </a:solidFill>
              </a:rPr>
              <a:t>Predictions compared
to actual test values
visually &amp; numerically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2671" y="3771900"/>
            <a:ext cx="8298180" cy="2743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TextBox 29"/>
          <p:cNvSpPr txBox="1"/>
          <p:nvPr/>
        </p:nvSpPr>
        <p:spPr>
          <a:xfrm>
            <a:off x="412671" y="3874770"/>
            <a:ext cx="85725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63D6B"/>
                </a:solidFill>
              </a:rPr>
              <a:t>Train: 80% of monthly data   |   Test: 20%   |   Order: ARIMA(1, 1, 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671" y="4251960"/>
            <a:ext cx="857250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75" i="1">
                <a:solidFill>
                  <a:srgbClr val="1A1A2E"/>
                </a:solidFill>
              </a:rPr>
              <a:t>The model captures the trend and produces reasonable short-term sales forecasts.</a:t>
            </a:r>
          </a:p>
        </p:txBody>
      </p:sp>
    </p:spTree>
    <p:extLst>
      <p:ext uri="{BB962C8B-B14F-4D97-AF65-F5344CB8AC3E}">
        <p14:creationId xmlns:p14="http://schemas.microsoft.com/office/powerpoint/2010/main" val="1581322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891540"/>
          </a:xfrm>
          <a:prstGeom prst="rect">
            <a:avLst/>
          </a:prstGeom>
          <a:solidFill>
            <a:srgbClr val="0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412671" y="205740"/>
            <a:ext cx="82296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1">
                <a:solidFill>
                  <a:srgbClr val="FFFFFF"/>
                </a:solidFill>
              </a:rPr>
              <a:t>ARIMA — Forecast vs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44091" y="960120"/>
            <a:ext cx="8435340" cy="308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44091" y="3494837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523566" y="3856939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ectangle 6"/>
          <p:cNvSpPr/>
          <p:nvPr/>
        </p:nvSpPr>
        <p:spPr>
          <a:xfrm>
            <a:off x="703041" y="325343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882517" y="3615537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1061992" y="3072384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1241468" y="3374136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1420943" y="2770632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1600418" y="3132734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1779893" y="3434486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1959368" y="2891333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2138844" y="2468880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2318319" y="2046427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2497795" y="3374136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2677270" y="3675888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2856745" y="3012033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3036221" y="3434486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3215696" y="2891333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3395171" y="325343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3574646" y="2589581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3754122" y="2951683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3933597" y="331378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4113072" y="2770632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ectangle 26"/>
          <p:cNvSpPr/>
          <p:nvPr/>
        </p:nvSpPr>
        <p:spPr>
          <a:xfrm>
            <a:off x="4292548" y="2287829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Rectangle 27"/>
          <p:cNvSpPr/>
          <p:nvPr/>
        </p:nvSpPr>
        <p:spPr>
          <a:xfrm>
            <a:off x="4472023" y="1865376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Rectangle 28"/>
          <p:cNvSpPr/>
          <p:nvPr/>
        </p:nvSpPr>
        <p:spPr>
          <a:xfrm>
            <a:off x="4651499" y="325343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Rectangle 29"/>
          <p:cNvSpPr/>
          <p:nvPr/>
        </p:nvSpPr>
        <p:spPr>
          <a:xfrm>
            <a:off x="4830974" y="3555187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Rectangle 30"/>
          <p:cNvSpPr/>
          <p:nvPr/>
        </p:nvSpPr>
        <p:spPr>
          <a:xfrm>
            <a:off x="5010449" y="2891333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Rectangle 31"/>
          <p:cNvSpPr/>
          <p:nvPr/>
        </p:nvSpPr>
        <p:spPr>
          <a:xfrm>
            <a:off x="5189924" y="331378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Rectangle 32"/>
          <p:cNvSpPr/>
          <p:nvPr/>
        </p:nvSpPr>
        <p:spPr>
          <a:xfrm>
            <a:off x="5369399" y="2710281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ectangle 33"/>
          <p:cNvSpPr/>
          <p:nvPr/>
        </p:nvSpPr>
        <p:spPr>
          <a:xfrm>
            <a:off x="5548875" y="3072384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5" name="Rectangle 34"/>
          <p:cNvSpPr/>
          <p:nvPr/>
        </p:nvSpPr>
        <p:spPr>
          <a:xfrm>
            <a:off x="5728350" y="2408529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6" name="Rectangle 35"/>
          <p:cNvSpPr/>
          <p:nvPr/>
        </p:nvSpPr>
        <p:spPr>
          <a:xfrm>
            <a:off x="5907826" y="2830982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Rectangle 36"/>
          <p:cNvSpPr/>
          <p:nvPr/>
        </p:nvSpPr>
        <p:spPr>
          <a:xfrm>
            <a:off x="6087301" y="319308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8" name="Rectangle 37"/>
          <p:cNvSpPr/>
          <p:nvPr/>
        </p:nvSpPr>
        <p:spPr>
          <a:xfrm>
            <a:off x="6266777" y="2589581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9" name="Rectangle 38"/>
          <p:cNvSpPr/>
          <p:nvPr/>
        </p:nvSpPr>
        <p:spPr>
          <a:xfrm>
            <a:off x="6446252" y="2106777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Rectangle 39"/>
          <p:cNvSpPr/>
          <p:nvPr/>
        </p:nvSpPr>
        <p:spPr>
          <a:xfrm>
            <a:off x="6625727" y="1684325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1" name="Rectangle 40"/>
          <p:cNvSpPr/>
          <p:nvPr/>
        </p:nvSpPr>
        <p:spPr>
          <a:xfrm>
            <a:off x="6805202" y="3132734"/>
            <a:ext cx="193191" cy="3429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2" name="Rectangle 41"/>
          <p:cNvSpPr/>
          <p:nvPr/>
        </p:nvSpPr>
        <p:spPr>
          <a:xfrm>
            <a:off x="7164153" y="2770632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Rectangle 42"/>
          <p:cNvSpPr/>
          <p:nvPr/>
        </p:nvSpPr>
        <p:spPr>
          <a:xfrm>
            <a:off x="7343628" y="3193085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4" name="Rectangle 43"/>
          <p:cNvSpPr/>
          <p:nvPr/>
        </p:nvSpPr>
        <p:spPr>
          <a:xfrm>
            <a:off x="7523104" y="2529230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5" name="Rectangle 44"/>
          <p:cNvSpPr/>
          <p:nvPr/>
        </p:nvSpPr>
        <p:spPr>
          <a:xfrm>
            <a:off x="7702579" y="2951683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Rectangle 45"/>
          <p:cNvSpPr/>
          <p:nvPr/>
        </p:nvSpPr>
        <p:spPr>
          <a:xfrm>
            <a:off x="7882054" y="2227478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Rectangle 46"/>
          <p:cNvSpPr/>
          <p:nvPr/>
        </p:nvSpPr>
        <p:spPr>
          <a:xfrm>
            <a:off x="8061530" y="2710281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Rectangle 47"/>
          <p:cNvSpPr/>
          <p:nvPr/>
        </p:nvSpPr>
        <p:spPr>
          <a:xfrm>
            <a:off x="8241005" y="3072384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Rectangle 48"/>
          <p:cNvSpPr/>
          <p:nvPr/>
        </p:nvSpPr>
        <p:spPr>
          <a:xfrm>
            <a:off x="8420480" y="2408529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ectangle 49"/>
          <p:cNvSpPr/>
          <p:nvPr/>
        </p:nvSpPr>
        <p:spPr>
          <a:xfrm>
            <a:off x="8599955" y="1986077"/>
            <a:ext cx="193191" cy="3429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Rectangle 50"/>
          <p:cNvSpPr/>
          <p:nvPr/>
        </p:nvSpPr>
        <p:spPr>
          <a:xfrm>
            <a:off x="7164153" y="2559405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Rectangle 51"/>
          <p:cNvSpPr/>
          <p:nvPr/>
        </p:nvSpPr>
        <p:spPr>
          <a:xfrm>
            <a:off x="7343628" y="2408529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3" name="Rectangle 52"/>
          <p:cNvSpPr/>
          <p:nvPr/>
        </p:nvSpPr>
        <p:spPr>
          <a:xfrm>
            <a:off x="7523104" y="2257653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4" name="Rectangle 53"/>
          <p:cNvSpPr/>
          <p:nvPr/>
        </p:nvSpPr>
        <p:spPr>
          <a:xfrm>
            <a:off x="7702579" y="2106777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5" name="Rectangle 54"/>
          <p:cNvSpPr/>
          <p:nvPr/>
        </p:nvSpPr>
        <p:spPr>
          <a:xfrm>
            <a:off x="7882054" y="1925726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6" name="Rectangle 55"/>
          <p:cNvSpPr/>
          <p:nvPr/>
        </p:nvSpPr>
        <p:spPr>
          <a:xfrm>
            <a:off x="8061530" y="1744675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7" name="Rectangle 56"/>
          <p:cNvSpPr/>
          <p:nvPr/>
        </p:nvSpPr>
        <p:spPr>
          <a:xfrm>
            <a:off x="8241005" y="1563624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Rectangle 57"/>
          <p:cNvSpPr/>
          <p:nvPr/>
        </p:nvSpPr>
        <p:spPr>
          <a:xfrm>
            <a:off x="8420480" y="1442923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9" name="Rectangle 58"/>
          <p:cNvSpPr/>
          <p:nvPr/>
        </p:nvSpPr>
        <p:spPr>
          <a:xfrm>
            <a:off x="8599955" y="1261872"/>
            <a:ext cx="193191" cy="3429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0" name="Rectangle 59"/>
          <p:cNvSpPr/>
          <p:nvPr/>
        </p:nvSpPr>
        <p:spPr>
          <a:xfrm>
            <a:off x="7164153" y="960120"/>
            <a:ext cx="20574" cy="30861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1" name="TextBox 60"/>
          <p:cNvSpPr txBox="1"/>
          <p:nvPr/>
        </p:nvSpPr>
        <p:spPr>
          <a:xfrm>
            <a:off x="6821253" y="4080510"/>
            <a:ext cx="13716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75">
                <a:solidFill>
                  <a:srgbClr val="55657A"/>
                </a:solidFill>
              </a:rPr>
              <a:t>Train / Test Split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16291" y="4183380"/>
            <a:ext cx="274320" cy="171450"/>
          </a:xfrm>
          <a:prstGeom prst="rect">
            <a:avLst/>
          </a:prstGeom>
          <a:solidFill>
            <a:srgbClr val="17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3" name="TextBox 62"/>
          <p:cNvSpPr txBox="1"/>
          <p:nvPr/>
        </p:nvSpPr>
        <p:spPr>
          <a:xfrm>
            <a:off x="6824901" y="4149090"/>
            <a:ext cx="8229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Train Data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94115" y="4183380"/>
            <a:ext cx="27432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5" name="TextBox 64"/>
          <p:cNvSpPr txBox="1"/>
          <p:nvPr/>
        </p:nvSpPr>
        <p:spPr>
          <a:xfrm>
            <a:off x="7702724" y="4149090"/>
            <a:ext cx="8229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Actual Test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1939" y="4183380"/>
            <a:ext cx="274320" cy="17145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7" name="TextBox 66"/>
          <p:cNvSpPr txBox="1"/>
          <p:nvPr/>
        </p:nvSpPr>
        <p:spPr>
          <a:xfrm>
            <a:off x="8580549" y="4149090"/>
            <a:ext cx="82296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1A1A2E"/>
                </a:solidFill>
              </a:rPr>
              <a:t>ARIMA Forecast</a:t>
            </a:r>
          </a:p>
        </p:txBody>
      </p:sp>
    </p:spTree>
    <p:extLst>
      <p:ext uri="{BB962C8B-B14F-4D97-AF65-F5344CB8AC3E}">
        <p14:creationId xmlns:p14="http://schemas.microsoft.com/office/powerpoint/2010/main" val="1259833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Time Series —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432816" y="73152"/>
            <a:ext cx="1619744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87491" y="135821"/>
            <a:ext cx="192177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1C2D4E"/>
                </a:solidFill>
                <a:latin typeface="Georgia"/>
              </a:rPr>
              <a:t>Jan 2014 – Dec 2017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685800"/>
            <a:ext cx="2103120" cy="100584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7132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E8A020"/>
                </a:solidFill>
                <a:latin typeface="Georgia"/>
              </a:rPr>
              <a:t>~$5K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08650"/>
            <a:ext cx="2103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 dirty="0">
                <a:solidFill>
                  <a:srgbClr val="A0AEC0"/>
                </a:solidFill>
                <a:latin typeface="Calibri"/>
              </a:rPr>
              <a:t>Starting</a:t>
            </a:r>
            <a:r>
              <a:rPr sz="900" b="0" i="0" dirty="0">
                <a:solidFill>
                  <a:srgbClr val="A0AEC0"/>
                </a:solidFill>
                <a:latin typeface="Calibri"/>
              </a:rPr>
              <a:t> Monthly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685800"/>
            <a:ext cx="2103120" cy="100584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7132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E8A020"/>
                </a:solidFill>
                <a:latin typeface="Georgia"/>
              </a:rPr>
              <a:t>~$120K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08650"/>
            <a:ext cx="2103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 i="0" dirty="0">
                <a:solidFill>
                  <a:srgbClr val="A0AEC0"/>
                </a:solidFill>
                <a:latin typeface="Calibri"/>
              </a:rPr>
              <a:t>Peak Monthly </a:t>
            </a:r>
            <a:r>
              <a:rPr sz="1050" b="0" i="0" dirty="0">
                <a:solidFill>
                  <a:srgbClr val="A0AEC0"/>
                </a:solidFill>
                <a:latin typeface="Calibri"/>
              </a:rPr>
              <a:t>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685800"/>
            <a:ext cx="2103120" cy="100584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7132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E8A020"/>
                </a:solidFill>
                <a:latin typeface="Georgia"/>
              </a:rPr>
              <a:t>~100%+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308650"/>
            <a:ext cx="2103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 dirty="0">
                <a:solidFill>
                  <a:srgbClr val="A0AEC0"/>
                </a:solidFill>
                <a:latin typeface="Calibri"/>
              </a:rPr>
              <a:t>Estimated</a:t>
            </a:r>
            <a:r>
              <a:rPr sz="900" b="0" i="0" dirty="0">
                <a:solidFill>
                  <a:srgbClr val="A0AEC0"/>
                </a:solidFill>
                <a:latin typeface="Calibri"/>
              </a:rPr>
              <a:t> CAGR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685800"/>
            <a:ext cx="2103120" cy="100584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59" y="7132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E8A020"/>
                </a:solidFill>
                <a:latin typeface="Georgia"/>
              </a:rPr>
              <a:t>4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1308650"/>
            <a:ext cx="2103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 dirty="0">
                <a:solidFill>
                  <a:srgbClr val="A0AEC0"/>
                </a:solidFill>
                <a:latin typeface="Calibri"/>
              </a:rPr>
              <a:t>Observation</a:t>
            </a:r>
            <a:r>
              <a:rPr sz="900" b="0" i="0" dirty="0">
                <a:solidFill>
                  <a:srgbClr val="A0AEC0"/>
                </a:solidFill>
                <a:latin typeface="Calibri"/>
              </a:rPr>
              <a:t>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828800"/>
            <a:ext cx="8778240" cy="32918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" y="1831809"/>
            <a:ext cx="85953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157984"/>
            <a:ext cx="877824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2249424"/>
            <a:ext cx="8485632" cy="1461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2D3748"/>
                </a:solidFill>
                <a:latin typeface="Calibri"/>
              </a:rPr>
              <a:t>This report analyses Walmart's monthly sales performance from January 2014 through December 2017. Using both original monthly sales data and a 3-month moving average, the analysis reveals a clear long-term upward trajectory despite notable short-term volatility.</a:t>
            </a:r>
          </a:p>
          <a:p>
            <a:pPr algn="l">
              <a:spcAft>
                <a:spcPts val="300"/>
              </a:spcAft>
            </a:pPr>
            <a:endParaRPr sz="1400" b="0" i="0" dirty="0">
              <a:solidFill>
                <a:srgbClr val="2D3748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400" b="0" i="0" dirty="0">
                <a:solidFill>
                  <a:srgbClr val="2D3748"/>
                </a:solidFill>
                <a:latin typeface="Calibri"/>
              </a:rPr>
              <a:t>Key findings indicate that Walmart experienced consistent year-over-year growth, with sales roughly doubling over the four-year observation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C2D4E"/>
                </a:solidFill>
                <a:latin typeface="Calibri"/>
              </a:rPr>
              <a:t>→  Sales roughly doubled over the 4-year period — from ~$5K to ~$120K per month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Monthly Sales Trend — Original vs. 3-Month Moving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73152"/>
            <a:ext cx="1463040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04525" y="120432"/>
            <a:ext cx="123303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 dirty="0">
                <a:solidFill>
                  <a:srgbClr val="1C2D4E"/>
                </a:solidFill>
                <a:latin typeface="Georgia"/>
              </a:rPr>
              <a:t>Sales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676656"/>
            <a:ext cx="8778240" cy="310896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676656"/>
            <a:ext cx="8595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Figure 1: Walmart Monthly Sales (2014–2017)</a:t>
            </a:r>
          </a:p>
        </p:txBody>
      </p:sp>
      <p:pic>
        <p:nvPicPr>
          <p:cNvPr id="8" name="Picture 7" descr="ts_cad8ad94907b223ea0fa1487a7447bdf5ba26a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87552"/>
            <a:ext cx="8778240" cy="3246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C2D4E"/>
                </a:solidFill>
                <a:latin typeface="Calibri"/>
              </a:rPr>
              <a:t>→  Blue = Original Monthly Sales  ·  Orange = 3-Month Moving Average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Key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73152"/>
            <a:ext cx="1463040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39417" y="143515"/>
            <a:ext cx="1563248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 i="0" dirty="0">
                <a:solidFill>
                  <a:srgbClr val="1C2D4E"/>
                </a:solidFill>
                <a:latin typeface="Georgia"/>
              </a:rPr>
              <a:t>EDA — Time Series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694944"/>
            <a:ext cx="4297680" cy="292608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713232"/>
            <a:ext cx="347472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713232"/>
            <a:ext cx="34747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713232"/>
            <a:ext cx="3639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Overall Growth Trend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987552"/>
            <a:ext cx="4297680" cy="10805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" y="987552"/>
            <a:ext cx="54864" cy="108051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" y="1042416"/>
            <a:ext cx="4096512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Calibri"/>
              </a:rPr>
              <a:t>Sales began at ~$5K–$15K/month in early 2014. By late 2017, monthly sales regularly exceeded $80K–$120K — a CAGR estimated at 100%+, reflecting strong business expansion.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694944"/>
            <a:ext cx="4297680" cy="292608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45152" y="713232"/>
            <a:ext cx="347472" cy="23774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713232"/>
            <a:ext cx="34747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713232"/>
            <a:ext cx="3639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Seasonal Volatility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987552"/>
            <a:ext cx="4297680" cy="10805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53712" y="987552"/>
            <a:ext cx="54864" cy="108051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8" y="1042416"/>
            <a:ext cx="4096512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Calibri"/>
              </a:rPr>
              <a:t>The original sales line exhibits significant month-to-month fluctuations across all four years. Sharp peaks and troughs are evident, with swings sometimes exceeding $40K within a single month — consistent with retail seasonality.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141220"/>
            <a:ext cx="4297680" cy="292608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159508"/>
            <a:ext cx="347472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159508"/>
            <a:ext cx="34747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159508"/>
            <a:ext cx="3639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Moving Average Smoothing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433828"/>
            <a:ext cx="4297680" cy="10805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" y="2433828"/>
            <a:ext cx="54864" cy="108051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2488692"/>
            <a:ext cx="4096512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Calibri"/>
              </a:rPr>
              <a:t>The 3-month moving average effectively smooths short-term noise and reveals the underlying trend. It confirms broadly positive sales momentum with no sustained declines lasting beyond one to two months.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2141220"/>
            <a:ext cx="4297680" cy="292608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45152" y="2159508"/>
            <a:ext cx="347472" cy="23774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152" y="2159508"/>
            <a:ext cx="34747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2159508"/>
            <a:ext cx="3639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Notable Peaks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53712" y="2433828"/>
            <a:ext cx="4297680" cy="10805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53712" y="2433828"/>
            <a:ext cx="54864" cy="108051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81728" y="2488692"/>
            <a:ext cx="4096512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Calibri"/>
              </a:rPr>
              <a:t>Highest monthly sales (~$120K) occurred in late 2017. A secondary peak of ~$97K was recorded in early 2017. Prior peaks reached ~$80K–$82K in mid-2014 and early 2015.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587496"/>
            <a:ext cx="4297680" cy="292608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3605784"/>
            <a:ext cx="347472" cy="23774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3605784"/>
            <a:ext cx="347472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605784"/>
            <a:ext cx="36393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Notable Troughs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80104"/>
            <a:ext cx="4297680" cy="1080516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82880" y="3880104"/>
            <a:ext cx="54864" cy="108051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" y="3934968"/>
            <a:ext cx="4096512" cy="952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2D3748"/>
                </a:solidFill>
                <a:latin typeface="Calibri"/>
              </a:rPr>
              <a:t>Lowest sales were observed in early 2014 (~$5K–$6K) and mid-2016 (~$20K–$23K) — likely reflecting post-holiday slowdowns or inventory restocking periods.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C2D4E"/>
                </a:solidFill>
                <a:latin typeface="Calibri"/>
              </a:rPr>
              <a:t>→  Consistent upward trend with seasonal volatility — moving average confirms sustained growth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Year-by-Year Sales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73152"/>
            <a:ext cx="1463040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5289" y="120432"/>
            <a:ext cx="12715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 dirty="0">
                <a:solidFill>
                  <a:srgbClr val="1C2D4E"/>
                </a:solidFill>
                <a:latin typeface="Georgia"/>
              </a:rPr>
              <a:t>2014 – 2017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694944"/>
            <a:ext cx="8869680" cy="3657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" y="694944"/>
            <a:ext cx="93268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694944"/>
            <a:ext cx="16642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Min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5224" y="694944"/>
            <a:ext cx="166420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Max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694944"/>
            <a:ext cx="22128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694944"/>
            <a:ext cx="2029967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Volatility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060704"/>
            <a:ext cx="8869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" y="1060704"/>
            <a:ext cx="45720" cy="713232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0312" y="1060704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E8A020"/>
                </a:solidFill>
                <a:latin typeface="Calibri"/>
              </a:rPr>
              <a:t>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1060704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1060704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$82,000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1060704"/>
            <a:ext cx="2194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6B8A"/>
                </a:solidFill>
                <a:latin typeface="Calibri"/>
              </a:rPr>
              <a:t>↑ Rising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060704"/>
            <a:ext cx="201167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1810512"/>
            <a:ext cx="8869680" cy="71323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7160" y="1810512"/>
            <a:ext cx="45720" cy="713232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0312" y="1810512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1810512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$13,000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1810512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$79,000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1810512"/>
            <a:ext cx="2194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6B8A"/>
                </a:solidFill>
                <a:latin typeface="Calibri"/>
              </a:rPr>
              <a:t>→ Flat / Mixed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1810512"/>
            <a:ext cx="201167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2560320"/>
            <a:ext cx="8869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7160" y="2560320"/>
            <a:ext cx="45720" cy="713232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" y="2560320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2560320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$20,000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2560320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$75,000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2560320"/>
            <a:ext cx="2194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6B8A"/>
                </a:solidFill>
                <a:latin typeface="Calibri"/>
              </a:rPr>
              <a:t>↑ Moderate 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2560320"/>
            <a:ext cx="201167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3310128"/>
            <a:ext cx="8869680" cy="71323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37160" y="3310128"/>
            <a:ext cx="45720" cy="713232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0312" y="3310128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E8A020"/>
                </a:solidFill>
                <a:latin typeface="Calibri"/>
              </a:rPr>
              <a:t>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310128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$22,000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3512" y="3310128"/>
            <a:ext cx="164591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$120,000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3310128"/>
            <a:ext cx="2194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6B8A"/>
                </a:solidFill>
                <a:latin typeface="Calibri"/>
              </a:rPr>
              <a:t>↑↑ Strong Rise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3310128"/>
            <a:ext cx="201167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2D3748"/>
                </a:solidFill>
                <a:latin typeface="Calibri"/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C2D4E"/>
                </a:solidFill>
                <a:latin typeface="Calibri"/>
              </a:rPr>
              <a:t>→  2017 saw the strongest growth — sales nearly tripled from the lowest to highest point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6858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Conclusions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73152"/>
            <a:ext cx="1463040" cy="40233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4488" y="120431"/>
            <a:ext cx="127310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 dirty="0">
                <a:solidFill>
                  <a:srgbClr val="1C2D4E"/>
                </a:solidFill>
                <a:latin typeface="Georgia"/>
              </a:rPr>
              <a:t>Time Series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685800"/>
            <a:ext cx="4114800" cy="310896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68580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96696"/>
            <a:ext cx="4114800" cy="17579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996696"/>
            <a:ext cx="54864" cy="175793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1088136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6B8A"/>
                </a:solidFill>
                <a:latin typeface="Calibri"/>
              </a:rPr>
              <a:t>Robust Growth Trajectory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1399032"/>
            <a:ext cx="3858768" cy="16459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453896"/>
            <a:ext cx="38862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2D3748"/>
                </a:solidFill>
                <a:latin typeface="Calibri"/>
              </a:rPr>
              <a:t>The four-year </a:t>
            </a:r>
            <a:r>
              <a:rPr lang="en-US" sz="1100" b="0" i="0" dirty="0">
                <a:solidFill>
                  <a:srgbClr val="2D3748"/>
                </a:solidFill>
                <a:latin typeface="Calibri"/>
              </a:rPr>
              <a:t>data</a:t>
            </a:r>
            <a:r>
              <a:rPr sz="1100" b="0" i="0" dirty="0">
                <a:solidFill>
                  <a:srgbClr val="2D3748"/>
                </a:solidFill>
                <a:latin typeface="Calibri"/>
              </a:rPr>
              <a:t> demonstrates accelerating growth, with sales roughly doubling — confirming strong and sustained business expansion.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827782"/>
            <a:ext cx="4114800" cy="17579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827782"/>
            <a:ext cx="54864" cy="175793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" y="2902494"/>
            <a:ext cx="38404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B05A3A"/>
                </a:solidFill>
                <a:latin typeface="Calibri"/>
              </a:rPr>
              <a:t>Recurring Seasonal Volatility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3230118"/>
            <a:ext cx="3858768" cy="16459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3284982"/>
            <a:ext cx="38862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2D3748"/>
                </a:solidFill>
                <a:latin typeface="Calibri"/>
              </a:rPr>
              <a:t>Monthly swings of up to $40K are consistently observed. Patterns align with holiday periods, promotional events, and inventory cycles.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62272" y="685800"/>
            <a:ext cx="4498848" cy="310896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685800"/>
            <a:ext cx="4315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996696"/>
            <a:ext cx="4498848" cy="8515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996696"/>
            <a:ext cx="54864" cy="85153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08576" y="1051560"/>
            <a:ext cx="42519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A6B8A"/>
                </a:solidFill>
                <a:latin typeface="Calibri"/>
              </a:rPr>
              <a:t>Demand Forecasting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307592"/>
            <a:ext cx="42519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2D3748"/>
                </a:solidFill>
                <a:latin typeface="Calibri"/>
              </a:rPr>
              <a:t>Invest in forecasting to better anticipate recurring monthly volatility and reduce operational and inventory planning challenges.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2272" y="1912239"/>
            <a:ext cx="4498848" cy="8515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62272" y="1912239"/>
            <a:ext cx="54864" cy="85153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8576" y="1932087"/>
            <a:ext cx="42519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B05A3A"/>
                </a:solidFill>
                <a:latin typeface="Calibri"/>
              </a:rPr>
              <a:t>Q4 Supply Chain 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223135"/>
            <a:ext cx="42519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 err="1">
                <a:solidFill>
                  <a:srgbClr val="2D3748"/>
                </a:solidFill>
                <a:latin typeface="Calibri"/>
              </a:rPr>
              <a:t>Capitalise</a:t>
            </a:r>
            <a:r>
              <a:rPr sz="1100" b="0" i="0" dirty="0">
                <a:solidFill>
                  <a:srgbClr val="2D3748"/>
                </a:solidFill>
                <a:latin typeface="Calibri"/>
              </a:rPr>
              <a:t> on strong late-year sales peaks by ensuring supply chain readiness and promotional campaigns are in place ahead of Q4.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2827782"/>
            <a:ext cx="4498848" cy="8515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272" y="2827782"/>
            <a:ext cx="54864" cy="85153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08576" y="2847630"/>
            <a:ext cx="42519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1A6B8A"/>
                </a:solidFill>
                <a:latin typeface="Calibri"/>
              </a:rPr>
              <a:t>Investigate Mid-Year Troughs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138678"/>
            <a:ext cx="42519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2D3748"/>
                </a:solidFill>
                <a:latin typeface="Calibri"/>
              </a:rPr>
              <a:t>Identify root causes of mid-year dips (especially mid-2016) and develop targeted promotions to sustain sales momentum.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3743325"/>
            <a:ext cx="4498848" cy="851534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62272" y="3743325"/>
            <a:ext cx="54864" cy="851534"/>
          </a:xfrm>
          <a:prstGeom prst="rect">
            <a:avLst/>
          </a:prstGeom>
          <a:solidFill>
            <a:srgbClr val="B0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8576" y="3763172"/>
            <a:ext cx="42519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B05A3A"/>
                </a:solidFill>
                <a:latin typeface="Calibri"/>
              </a:rPr>
              <a:t>Monitor Moving Average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054221"/>
            <a:ext cx="42519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 dirty="0">
                <a:solidFill>
                  <a:srgbClr val="2D3748"/>
                </a:solidFill>
                <a:latin typeface="Calibri"/>
              </a:rPr>
              <a:t>Continue using the 3-month moving average as a key management indicator to distinguish genuine trend shifts from seasonal noise.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4686300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1C2D4E"/>
                </a:solidFill>
                <a:latin typeface="Calibri"/>
              </a:rPr>
              <a:t>→  Strong growth confirmed — invest in forecasting, Q4 readiness, and discount monitoring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Conclusion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</a:rPr>
              <a:t>Key Takeaways from the Walmart BI Project</a:t>
            </a:r>
          </a:p>
        </p:txBody>
      </p:sp>
      <p:sp>
        <p:nvSpPr>
          <p:cNvPr id="10" name="Card1BG"/>
          <p:cNvSpPr/>
          <p:nvPr/>
        </p:nvSpPr>
        <p:spPr>
          <a:xfrm>
            <a:off x="320040" y="1828800"/>
            <a:ext cx="2560320" cy="2743200"/>
          </a:xfrm>
          <a:prstGeom prst="rect">
            <a:avLst/>
          </a:prstGeom>
          <a:solidFill>
            <a:srgbClr val="243556"/>
          </a:solidFill>
          <a:ln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Header"/>
          <p:cNvSpPr/>
          <p:nvPr/>
        </p:nvSpPr>
        <p:spPr>
          <a:xfrm>
            <a:off x="320040" y="1828800"/>
            <a:ext cx="2560320" cy="3657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rd1Title"/>
          <p:cNvSpPr/>
          <p:nvPr/>
        </p:nvSpPr>
        <p:spPr>
          <a:xfrm>
            <a:off x="365760" y="1828800"/>
            <a:ext cx="246960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Sales &amp; Products</a:t>
            </a:r>
          </a:p>
        </p:txBody>
      </p:sp>
      <p:sp>
        <p:nvSpPr>
          <p:cNvPr id="13" name="Card1Text"/>
          <p:cNvSpPr/>
          <p:nvPr/>
        </p:nvSpPr>
        <p:spPr>
          <a:xfrm>
            <a:off x="365760" y="2239200"/>
            <a:ext cx="2423880" cy="2286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8D8F0"/>
                </a:solidFill>
              </a:rPr>
              <a:t>Office Supplies leads all categories in sales volume. Technology and Furniture follow closely.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C8D8F0"/>
                </a:solidFill>
              </a:rPr>
              <a:t>Most orders are small-value, right-skewed distribution suggests focusing on frequent buyers.</a:t>
            </a:r>
          </a:p>
        </p:txBody>
      </p:sp>
      <p:sp>
        <p:nvSpPr>
          <p:cNvPr id="20" name="Card2BG"/>
          <p:cNvSpPr/>
          <p:nvPr/>
        </p:nvSpPr>
        <p:spPr>
          <a:xfrm>
            <a:off x="3109800" y="1828800"/>
            <a:ext cx="2560320" cy="2743200"/>
          </a:xfrm>
          <a:prstGeom prst="rect">
            <a:avLst/>
          </a:prstGeom>
          <a:solidFill>
            <a:srgbClr val="243556"/>
          </a:solidFill>
          <a:ln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Header"/>
          <p:cNvSpPr/>
          <p:nvPr/>
        </p:nvSpPr>
        <p:spPr>
          <a:xfrm>
            <a:off x="3109800" y="1828800"/>
            <a:ext cx="2560320" cy="36576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ard2Title"/>
          <p:cNvSpPr/>
          <p:nvPr/>
        </p:nvSpPr>
        <p:spPr>
          <a:xfrm>
            <a:off x="3155520" y="1828800"/>
            <a:ext cx="246960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Regions &amp; Cities</a:t>
            </a:r>
          </a:p>
        </p:txBody>
      </p:sp>
      <p:sp>
        <p:nvSpPr>
          <p:cNvPr id="23" name="Card2Text"/>
          <p:cNvSpPr/>
          <p:nvPr/>
        </p:nvSpPr>
        <p:spPr>
          <a:xfrm>
            <a:off x="3155520" y="2239200"/>
            <a:ext cx="2423880" cy="2286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8D8F0"/>
                </a:solidFill>
              </a:rPr>
              <a:t>The West Region is the most profitable. California and New York dominate state-level sales.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C8D8F0"/>
                </a:solidFill>
              </a:rPr>
              <a:t>New York City, LA, and San Francisco are top profit-generating cities.</a:t>
            </a:r>
          </a:p>
        </p:txBody>
      </p:sp>
      <p:sp>
        <p:nvSpPr>
          <p:cNvPr id="30" name="Card3BG"/>
          <p:cNvSpPr/>
          <p:nvPr/>
        </p:nvSpPr>
        <p:spPr>
          <a:xfrm>
            <a:off x="5899560" y="1828800"/>
            <a:ext cx="2924280" cy="2743200"/>
          </a:xfrm>
          <a:prstGeom prst="rect">
            <a:avLst/>
          </a:prstGeom>
          <a:solidFill>
            <a:srgbClr val="243556"/>
          </a:solidFill>
          <a:ln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Header"/>
          <p:cNvSpPr/>
          <p:nvPr/>
        </p:nvSpPr>
        <p:spPr>
          <a:xfrm>
            <a:off x="5899560" y="1828800"/>
            <a:ext cx="2924280" cy="3657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ard3Title"/>
          <p:cNvSpPr/>
          <p:nvPr/>
        </p:nvSpPr>
        <p:spPr>
          <a:xfrm>
            <a:off x="5945280" y="1828800"/>
            <a:ext cx="2832840" cy="36576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ML &amp; Discounts</a:t>
            </a:r>
          </a:p>
        </p:txBody>
      </p:sp>
      <p:sp>
        <p:nvSpPr>
          <p:cNvPr id="33" name="Card3Text"/>
          <p:cNvSpPr/>
          <p:nvPr/>
        </p:nvSpPr>
        <p:spPr>
          <a:xfrm>
            <a:off x="5945280" y="2239200"/>
            <a:ext cx="2832840" cy="2286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8D8F0"/>
                </a:solidFill>
              </a:rPr>
              <a:t>Random Forest (R² 0.85) significantly outperforms Linear Regression. Discount and Profit have a strong negative correlation (-0.5).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C8D8F0"/>
                </a:solidFill>
              </a:rPr>
              <a:t>Limiting discounts by segment protects margin without sacrificing sales.</a:t>
            </a:r>
          </a:p>
        </p:txBody>
      </p:sp>
      <p:sp>
        <p:nvSpPr>
          <p:cNvPr id="40" name="BottomBar"/>
          <p:cNvSpPr/>
          <p:nvPr/>
        </p:nvSpPr>
        <p:spPr>
          <a:xfrm>
            <a:off x="0" y="4800600"/>
            <a:ext cx="9144000" cy="37152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Walmart Sales Business Intelligence Project — IS Department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Business Recommendations</a:t>
            </a:r>
          </a:p>
        </p:txBody>
      </p:sp>
      <p:sp>
        <p:nvSpPr>
          <p:cNvPr id="4" name="Tag"/>
          <p:cNvSpPr/>
          <p:nvPr/>
        </p:nvSpPr>
        <p:spPr>
          <a:xfrm>
            <a:off x="7498200" y="0"/>
            <a:ext cx="1645800" cy="7772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         </a:t>
            </a:r>
            <a:r>
              <a:rPr lang="en-US" sz="1600" b="1" dirty="0">
                <a:solidFill>
                  <a:srgbClr val="1A2B4A"/>
                </a:solidFill>
              </a:rPr>
              <a:t>Conclusion</a:t>
            </a:r>
          </a:p>
        </p:txBody>
      </p:sp>
      <p:sp>
        <p:nvSpPr>
          <p:cNvPr id="10" name="Rec1BG"/>
          <p:cNvSpPr/>
          <p:nvPr/>
        </p:nvSpPr>
        <p:spPr>
          <a:xfrm>
            <a:off x="320040" y="91440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1AccentBar"/>
          <p:cNvSpPr/>
          <p:nvPr/>
        </p:nvSpPr>
        <p:spPr>
          <a:xfrm>
            <a:off x="320040" y="914400"/>
            <a:ext cx="182880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c1Text"/>
          <p:cNvSpPr/>
          <p:nvPr/>
        </p:nvSpPr>
        <p:spPr>
          <a:xfrm>
            <a:off x="548640" y="96012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Invest in Office Supplies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Prioritize inventory and marketing for the top-selling category to maximize revenue.</a:t>
            </a:r>
          </a:p>
        </p:txBody>
      </p:sp>
      <p:sp>
        <p:nvSpPr>
          <p:cNvPr id="20" name="Rec2BG"/>
          <p:cNvSpPr/>
          <p:nvPr/>
        </p:nvSpPr>
        <p:spPr>
          <a:xfrm>
            <a:off x="4800600" y="91440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Rec2AccentBar"/>
          <p:cNvSpPr/>
          <p:nvPr/>
        </p:nvSpPr>
        <p:spPr>
          <a:xfrm>
            <a:off x="4800600" y="914400"/>
            <a:ext cx="182880" cy="91440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c2Text"/>
          <p:cNvSpPr/>
          <p:nvPr/>
        </p:nvSpPr>
        <p:spPr>
          <a:xfrm>
            <a:off x="5029200" y="96012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Control Discount Strategy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Cap discounts per segment/category to protect profit margins from erosion.</a:t>
            </a:r>
          </a:p>
        </p:txBody>
      </p:sp>
      <p:sp>
        <p:nvSpPr>
          <p:cNvPr id="30" name="Rec3BG"/>
          <p:cNvSpPr/>
          <p:nvPr/>
        </p:nvSpPr>
        <p:spPr>
          <a:xfrm>
            <a:off x="320040" y="192024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Rec3AccentBar"/>
          <p:cNvSpPr/>
          <p:nvPr/>
        </p:nvSpPr>
        <p:spPr>
          <a:xfrm>
            <a:off x="320040" y="1920240"/>
            <a:ext cx="182880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c3Text"/>
          <p:cNvSpPr/>
          <p:nvPr/>
        </p:nvSpPr>
        <p:spPr>
          <a:xfrm>
            <a:off x="54864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Target Consumer Segment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Build retention and loyalty programs for the Consumer segment — our primary revenue source.</a:t>
            </a:r>
          </a:p>
        </p:txBody>
      </p:sp>
      <p:sp>
        <p:nvSpPr>
          <p:cNvPr id="40" name="Rec4BG"/>
          <p:cNvSpPr/>
          <p:nvPr/>
        </p:nvSpPr>
        <p:spPr>
          <a:xfrm>
            <a:off x="4800600" y="192024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Rec4AccentBar"/>
          <p:cNvSpPr/>
          <p:nvPr/>
        </p:nvSpPr>
        <p:spPr>
          <a:xfrm>
            <a:off x="4800600" y="1920240"/>
            <a:ext cx="182880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c4Text"/>
          <p:cNvSpPr/>
          <p:nvPr/>
        </p:nvSpPr>
        <p:spPr>
          <a:xfrm>
            <a:off x="502920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Expand West &amp; Key Cities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Double investment in West Region and NYC/LA/SF with targeted campaigns and local stock.</a:t>
            </a:r>
          </a:p>
        </p:txBody>
      </p:sp>
      <p:sp>
        <p:nvSpPr>
          <p:cNvPr id="50" name="Rec5BG"/>
          <p:cNvSpPr/>
          <p:nvPr/>
        </p:nvSpPr>
        <p:spPr>
          <a:xfrm>
            <a:off x="320040" y="292608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Rec5AccentBar"/>
          <p:cNvSpPr/>
          <p:nvPr/>
        </p:nvSpPr>
        <p:spPr>
          <a:xfrm>
            <a:off x="320040" y="2926080"/>
            <a:ext cx="182880" cy="91440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c5Text"/>
          <p:cNvSpPr/>
          <p:nvPr/>
        </p:nvSpPr>
        <p:spPr>
          <a:xfrm>
            <a:off x="54864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Use Random Forest for Forecasting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Deploy the Random Forest model (R² 0.85) for sales forecasting and demand planning.</a:t>
            </a:r>
          </a:p>
        </p:txBody>
      </p:sp>
      <p:sp>
        <p:nvSpPr>
          <p:cNvPr id="60" name="Rec6BG"/>
          <p:cNvSpPr/>
          <p:nvPr/>
        </p:nvSpPr>
        <p:spPr>
          <a:xfrm>
            <a:off x="4800600" y="2926080"/>
            <a:ext cx="4023360" cy="914400"/>
          </a:xfrm>
          <a:prstGeom prst="rect">
            <a:avLst/>
          </a:prstGeom>
          <a:solidFill>
            <a:srgbClr val="F4F6FA"/>
          </a:solidFill>
          <a:ln/>
          <a:effectLst>
            <a:outerShdw blurRad="76200" dist="12700" dir="5400000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Rec6AccentBar"/>
          <p:cNvSpPr/>
          <p:nvPr/>
        </p:nvSpPr>
        <p:spPr>
          <a:xfrm>
            <a:off x="4800600" y="2926080"/>
            <a:ext cx="182880" cy="9144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c6Text"/>
          <p:cNvSpPr/>
          <p:nvPr/>
        </p:nvSpPr>
        <p:spPr>
          <a:xfrm>
            <a:off x="5029200" y="2971800"/>
            <a:ext cx="37490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</a:rPr>
              <a:t>Monitor Sales Trends Over Time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2E3A4E"/>
                </a:solidFill>
              </a:rPr>
              <a:t>Set up dashboards to track seasonal patterns and act quickly on emerging trends.</a:t>
            </a:r>
          </a:p>
        </p:txBody>
      </p:sp>
      <p:sp>
        <p:nvSpPr>
          <p:cNvPr id="70" name="BottomBar"/>
          <p:cNvSpPr/>
          <p:nvPr/>
        </p:nvSpPr>
        <p:spPr>
          <a:xfrm>
            <a:off x="0" y="4800600"/>
            <a:ext cx="9144000" cy="3715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LeftStrip"/>
          <p:cNvSpPr/>
          <p:nvPr/>
        </p:nvSpPr>
        <p:spPr>
          <a:xfrm>
            <a:off x="0" y="548640"/>
            <a:ext cx="457200" cy="4251960"/>
          </a:xfrm>
          <a:prstGeom prst="rect">
            <a:avLst/>
          </a:prstGeom>
          <a:solidFill>
            <a:srgbClr val="2435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DeptLabel"/>
          <p:cNvSpPr/>
          <p:nvPr/>
        </p:nvSpPr>
        <p:spPr>
          <a:xfrm>
            <a:off x="822960" y="685800"/>
            <a:ext cx="740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</a:rPr>
              <a:t>IS Department  •  Business Intelligence Project</a:t>
            </a:r>
          </a:p>
        </p:txBody>
      </p:sp>
      <p:sp>
        <p:nvSpPr>
          <p:cNvPr id="5" name="ThankyouText"/>
          <p:cNvSpPr/>
          <p:nvPr/>
        </p:nvSpPr>
        <p:spPr>
          <a:xfrm>
            <a:off x="822960" y="1280160"/>
            <a:ext cx="7407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</a:rPr>
              <a:t>Thank You</a:t>
            </a:r>
          </a:p>
        </p:txBody>
      </p:sp>
      <p:sp>
        <p:nvSpPr>
          <p:cNvPr id="6" name="Divider"/>
          <p:cNvSpPr/>
          <p:nvPr/>
        </p:nvSpPr>
        <p:spPr>
          <a:xfrm>
            <a:off x="822960" y="2743200"/>
            <a:ext cx="365760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ubMessage"/>
          <p:cNvSpPr/>
          <p:nvPr/>
        </p:nvSpPr>
        <p:spPr>
          <a:xfrm>
            <a:off x="822960" y="2834640"/>
            <a:ext cx="7407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CD8"/>
                </a:solidFill>
                <a:latin typeface="Calibri Light" pitchFamily="34" charset="0"/>
              </a:rPr>
              <a:t>We appreciate your time and attention.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A8BCD8"/>
                </a:solidFill>
                <a:latin typeface="Calibri Light" pitchFamily="34" charset="0"/>
              </a:rPr>
              <a:t>Questions &amp; Discussion Welcome</a:t>
            </a:r>
          </a:p>
        </p:txBody>
      </p:sp>
      <p:sp>
        <p:nvSpPr>
          <p:cNvPr id="8" name="BottomLabel"/>
          <p:cNvSpPr/>
          <p:nvPr/>
        </p:nvSpPr>
        <p:spPr>
          <a:xfrm>
            <a:off x="5486400" y="3657600"/>
            <a:ext cx="3200040" cy="548640"/>
          </a:xfrm>
          <a:prstGeom prst="rect">
            <a:avLst/>
          </a:prstGeom>
          <a:solidFill>
            <a:srgbClr val="243556"/>
          </a:solidFill>
          <a:ln/>
        </p:spPr>
        <p:txBody>
          <a:bodyPr wrap="square" lIns="182880" tIns="0" rIns="18288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Walmart Sales</a:t>
            </a:r>
            <a:r>
              <a:rPr lang="en-US" sz="1200" dirty="0">
                <a:solidFill>
                  <a:srgbClr val="FFFFFF"/>
                </a:solidFill>
              </a:rPr>
              <a:t>  BI Project</a:t>
            </a:r>
          </a:p>
        </p:txBody>
      </p:sp>
      <p:sp>
        <p:nvSpPr>
          <p:cNvPr id="9" name="BottomBar"/>
          <p:cNvSpPr/>
          <p:nvPr/>
        </p:nvSpPr>
        <p:spPr>
          <a:xfrm>
            <a:off x="0" y="4800600"/>
            <a:ext cx="9144000" cy="3715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2328</Words>
  <Application>Microsoft Office PowerPoint</Application>
  <PresentationFormat>On-screen Show (16:9)</PresentationFormat>
  <Paragraphs>427</Paragraphs>
  <Slides>31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Sales BI Project - Ibrahim</dc:title>
  <dc:subject>PptxGenJS Presentation</dc:subject>
  <dc:creator>PptxGenJS</dc:creator>
  <cp:lastModifiedBy>احمد اسماعيل سيد محمدى</cp:lastModifiedBy>
  <cp:revision>16</cp:revision>
  <dcterms:created xsi:type="dcterms:W3CDTF">2026-04-30T00:20:50Z</dcterms:created>
  <dcterms:modified xsi:type="dcterms:W3CDTF">2026-05-19T05:23:12Z</dcterms:modified>
</cp:coreProperties>
</file>